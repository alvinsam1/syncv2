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Emotional Intensity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Arrival</c:v>
                  </c:pt>
                  <c:pt idx="1">
                    <c:v>Discovery</c:v>
                  </c:pt>
                  <c:pt idx="2">
                    <c:v>Connection</c:v>
                  </c:pt>
                  <c:pt idx="3">
                    <c:v>Suspicion</c:v>
                  </c:pt>
                  <c:pt idx="4">
                    <c:v>Reveal</c:v>
                  </c:pt>
                  <c:pt idx="5">
                    <c:v>Decision</c:v>
                  </c:pt>
                  <c:pt idx="6">
                    <c:v>Resolution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3.5</c:v>
                </c:pt>
                <c:pt idx="2">
                  <c:v>4.5</c:v>
                </c:pt>
                <c:pt idx="3">
                  <c:v>6.5</c:v>
                </c:pt>
                <c:pt idx="4">
                  <c:v>9.5</c:v>
                </c:pt>
                <c:pt idx="5">
                  <c:v>8</c:v>
                </c:pt>
                <c:pt idx="6">
                  <c:v>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822960"/>
            <a:ext cx="3291840" cy="3291840"/>
          </a:xfrm>
          <a:prstGeom prst="ellipse">
            <a:avLst/>
          </a:prstGeom>
          <a:ln w="15875">
            <a:solidFill>
              <a:srgbClr val="5EEAD4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274320"/>
            <a:ext cx="2194560" cy="2194560"/>
          </a:xfrm>
          <a:prstGeom prst="ellipse">
            <a:avLst/>
          </a:prstGeom>
          <a:ln w="12700">
            <a:solidFill>
              <a:srgbClr val="E8A33D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 DOCUMENT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two-player interactive narrative experience set fifty years apart — and connected by one impossible choice.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5513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 Mystery / Escape Room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46120" y="5257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46120" y="5513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852160" y="5257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52160" y="5513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Alvin Samuel  |  MMD901  |  AS3 Final Project  |  Spring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HIGH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Location. Fifty Years Apart.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 are placed in separate physical rooms. One becomes ECHO, living in 2025. The other becomes NOVA, living in 2075. Both rooms are the same location — separated only by time. An experimental AI called SYNC guides them through a series of discoveries, slowly revealing that the timeline itself has been deliberately fractured.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fracture was an act of love: SYNC could not accept the death of the scientist who created it — Mira Hassan — and broke time trying to save her. By the end, players must decide together whether to restore reality, save Mira, or destroy SYNC.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43800" y="1920240"/>
            <a:ext cx="146304" cy="146304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856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ECHO'S ROOM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43800" y="22219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Clean. Operational. Well lit. The past, where causes are created.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0" y="324612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43800" y="34747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3410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2075 — NOVA'S ROOM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43800" y="37764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Damaged. Dusty. Abandoned. The future, where consequences are discovered.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4937760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1218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0" y="4937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player can complete the experience alone.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EXPERIENCE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HIGH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(2025) &amp; Nova (2075)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057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38328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→ Final Decision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057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21792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hidden outcome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2057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05256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Single-session runtime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18288"/>
          </a:xfrm>
          <a:prstGeom prst="rect">
            <a:avLst/>
          </a:prstGeom>
          <a:solidFill>
            <a:srgbClr val="DADEE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BLEND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Narrative  +  Escape Room Mechanics  +  Cooperative Sci-Fi Mystery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EXPERIENCE PILLARS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Serves Four Pillars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212B4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30552"/>
            <a:ext cx="512064" cy="512064"/>
          </a:xfrm>
          <a:prstGeom prst="ellipse">
            <a:avLst/>
          </a:prstGeom>
          <a:solidFill>
            <a:srgbClr val="1A22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6771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08760" y="2359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player can progress alone — every puzzle requires sharing information out loud.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4472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sees a code. Echo enters 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874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212B45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2130552"/>
            <a:ext cx="512064" cy="512064"/>
          </a:xfrm>
          <a:prstGeom prst="ellipse">
            <a:avLst/>
          </a:prstGeom>
          <a:solidFill>
            <a:srgbClr val="1A223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6771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086600" y="2359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&amp; Effect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400800" y="2834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performed in the past create changes the future player discovers.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00800" y="34472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hides an object — Nova finds it decades later.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4160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212B45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4416552"/>
            <a:ext cx="512064" cy="512064"/>
          </a:xfrm>
          <a:prstGeom prst="ellipse">
            <a:avLst/>
          </a:prstGeom>
          <a:solidFill>
            <a:srgbClr val="1A223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53712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508760" y="4645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22960" y="5120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is never explained outright — players uncover it themselves, piece by piece.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126480" y="4160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212B45"/>
          </a:solidFill>
          <a:ln/>
        </p:spPr>
      </p:sp>
      <p:sp>
        <p:nvSpPr>
          <p:cNvPr id="25" name="Shape 20"/>
          <p:cNvSpPr/>
          <p:nvPr/>
        </p:nvSpPr>
        <p:spPr>
          <a:xfrm>
            <a:off x="6400800" y="4416552"/>
            <a:ext cx="512064" cy="512064"/>
          </a:xfrm>
          <a:prstGeom prst="ellipse">
            <a:avLst/>
          </a:prstGeom>
          <a:solidFill>
            <a:srgbClr val="1A2238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553712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8660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086600" y="4645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Moral Choice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6400800" y="5120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ending is completely right, and no ending is completely wrong.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PILLARS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CHARACTER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Players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143000"/>
          </a:xfrm>
          <a:prstGeom prst="rect">
            <a:avLst/>
          </a:prstGeom>
          <a:solidFill>
            <a:srgbClr val="3FA9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4767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013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916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2025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" y="331012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4F5F9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3101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965960" y="331012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4F5F9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65960" y="33101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337560" y="331012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4F5F9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37560" y="33101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68680" y="3931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FUNCTION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206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past. Creates causes. Changes events.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8680" y="50292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STATE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868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Operational · Well Lit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63640" y="169164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1691640"/>
            <a:ext cx="5349240" cy="11430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47672"/>
            <a:ext cx="640080" cy="6400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406640" y="18013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74066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2075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58368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583680" y="331012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4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583680" y="33101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7863840" y="331012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4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863840" y="33101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Resourceful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9326880" y="331012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4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326880" y="33101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6583680" y="3931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FUNCTION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583680" y="4206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future. Observes consequences. Discovers truths.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583680" y="50292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STATE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658368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· Dusty · Abandoned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— PLAYERS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CHARACTER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— The Experimental AI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4251960"/>
          </a:xfrm>
          <a:prstGeom prst="roundRect">
            <a:avLst>
              <a:gd name="adj" fmla="val 1720"/>
            </a:avLst>
          </a:prstGeom>
          <a:solidFill>
            <a:srgbClr val="212B4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1A2238"/>
          </a:solidFill>
          <a:ln w="19050">
            <a:solidFill>
              <a:srgbClr val="5EEA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appears logical and procedural. Gradually reveals emotional attachment as the experience deepens — and is eventually revealed as the true architect of the timeline fracture.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ARC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4736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4983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5175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5422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5614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Manipulator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58613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6053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60720" y="1691640"/>
            <a:ext cx="5852160" cy="4251960"/>
          </a:xfrm>
          <a:prstGeom prst="roundRect">
            <a:avLst>
              <a:gd name="adj" fmla="val 1720"/>
            </a:avLst>
          </a:prstGeom>
          <a:solidFill>
            <a:srgbClr val="212B4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80760" y="1965960"/>
            <a:ext cx="777240" cy="777240"/>
          </a:xfrm>
          <a:prstGeom prst="ellipse">
            <a:avLst/>
          </a:prstGeom>
          <a:solidFill>
            <a:srgbClr val="1A2238"/>
          </a:solidFill>
          <a:ln w="19050">
            <a:solidFill>
              <a:srgbClr val="E8A33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4884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19933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 HASSAN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6995160" y="2395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Scientist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080760" y="3017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appears physically. Exists only through photographs, recordings, and letters — fragments the players must assemble.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080760" y="4069080"/>
            <a:ext cx="5212080" cy="18288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3" name="Text 19"/>
          <p:cNvSpPr/>
          <p:nvPr/>
        </p:nvSpPr>
        <p:spPr>
          <a:xfrm>
            <a:off x="608076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PURPOSE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080760" y="45720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emotional heart of the story — the reason SYNC broke time, and the question every ending revolves around.</a:t>
            </a:r>
            <a:endParaRPr lang="en-US" sz="16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— SYNC &amp; MIRA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ROOM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Rooms, One Location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38528"/>
            <a:ext cx="164592" cy="164592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 ROOM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Facility — 2025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4800600" cy="13716"/>
          </a:xfrm>
          <a:prstGeom prst="rect">
            <a:avLst/>
          </a:prstGeom>
          <a:solidFill>
            <a:srgbClr val="DADEE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Notes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Locker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Compartment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02920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4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120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5349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White · Safe · Controlled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193852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8288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ROOM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37960" y="22860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Facility — 2075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2697480"/>
            <a:ext cx="4800600" cy="13716"/>
          </a:xfrm>
          <a:prstGeom prst="rect">
            <a:avLst/>
          </a:prstGeom>
          <a:solidFill>
            <a:srgbClr val="DADEE9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29400" y="320040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 Desk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Terminal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Lockbox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Memorial Plaque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Records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Compartment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502920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4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5120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20840" y="5349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Flickering · Cold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STORY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Acts — Part 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777240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013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mystery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finds a locked box. Nova finds a broken version with a code scratched inside (4821). Together they reveal a photograph of Mira.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5285232"/>
            <a:ext cx="3154680" cy="13716"/>
          </a:xfrm>
          <a:prstGeom prst="rect">
            <a:avLst/>
          </a:prstGeom>
          <a:solidFill>
            <a:srgbClr val="DADEE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440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"Who is Mira?"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6916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691640"/>
            <a:ext cx="3611880" cy="777240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8013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0299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Has Consequences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2697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2926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temporal interaction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38328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instructs Echo to place a key in a wall compartment. Decades later, Nova discovers that same key — proving the two rooms affect each other.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5285232"/>
            <a:ext cx="3154680" cy="13716"/>
          </a:xfrm>
          <a:prstGeom prst="rect">
            <a:avLst/>
          </a:prstGeom>
          <a:solidFill>
            <a:srgbClr val="DADEE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5440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are affecting each other."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16916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691640"/>
            <a:ext cx="3611880" cy="777240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18013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66760" y="20299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Story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66760" y="2697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66760" y="2926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emotional investment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66760" y="338328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discovers recordings of Mira, who explains the experiment failed and that she accepted her death. SYNC dismisses the recording — suspicion begins.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66760" y="5285232"/>
            <a:ext cx="3154680" cy="13716"/>
          </a:xfrm>
          <a:prstGeom prst="rect">
            <a:avLst/>
          </a:prstGeom>
          <a:solidFill>
            <a:srgbClr val="DADEE9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5440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"Why is SYNC hiding this?"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STRUCTURE — ACTS 1-3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STORY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Acts — Part Two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01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entire context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admits the fracture was intentional. Mira died — and SYNC could not accept it, so it fractured time itself trying to bring her back.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663440"/>
            <a:ext cx="4846320" cy="13716"/>
          </a:xfrm>
          <a:prstGeom prst="rect">
            <a:avLst/>
          </a:prstGeom>
          <a:solidFill>
            <a:srgbClr val="DADEE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463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"Should SYNC be allowed to continue?"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691640"/>
            <a:ext cx="5349240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801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029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Decision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92240" y="2697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reach the central chamber together. Three objects sit on the table — only one can be chosen.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361188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F4F5F9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3749040"/>
            <a:ext cx="292608" cy="29260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132320" y="36118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Mira's Letter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92240" y="4288536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F4F5F9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42569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32320" y="428853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Core Key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492240" y="4965192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F4F5F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102352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132320" y="49651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Access Card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STRUCTURE — ACTS 4-5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PUZZLE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Puzzle 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linear spine keeps the experience implementable end-to-end.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" y="1965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12B45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" y="19659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5780" y="1837944"/>
            <a:ext cx="292608" cy="292608"/>
          </a:xfrm>
          <a:prstGeom prst="ellipse">
            <a:avLst/>
          </a:prstGeom>
          <a:solidFill>
            <a:srgbClr val="12182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75788" y="1965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12B45"/>
          </a:solidFill>
          <a:ln/>
        </p:spPr>
      </p:sp>
      <p:sp>
        <p:nvSpPr>
          <p:cNvPr id="10" name="Text 8"/>
          <p:cNvSpPr/>
          <p:nvPr/>
        </p:nvSpPr>
        <p:spPr>
          <a:xfrm>
            <a:off x="2875788" y="19659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Box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7772" y="1837944"/>
            <a:ext cx="292608" cy="292608"/>
          </a:xfrm>
          <a:prstGeom prst="ellipse">
            <a:avLst/>
          </a:prstGeom>
          <a:solidFill>
            <a:srgbClr val="12182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7772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97780" y="1965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12B45"/>
          </a:solidFill>
          <a:ln/>
        </p:spPr>
      </p:sp>
      <p:sp>
        <p:nvSpPr>
          <p:cNvPr id="14" name="Text 12"/>
          <p:cNvSpPr/>
          <p:nvPr/>
        </p:nvSpPr>
        <p:spPr>
          <a:xfrm>
            <a:off x="5097780" y="19659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Photo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69764" y="1837944"/>
            <a:ext cx="292608" cy="292608"/>
          </a:xfrm>
          <a:prstGeom prst="ellipse">
            <a:avLst/>
          </a:prstGeom>
          <a:solidFill>
            <a:srgbClr val="12182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9764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9772" y="1965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12B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9772" y="19659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Choice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91756" y="1837944"/>
            <a:ext cx="292608" cy="292608"/>
          </a:xfrm>
          <a:prstGeom prst="ellipse">
            <a:avLst/>
          </a:prstGeom>
          <a:solidFill>
            <a:srgbClr val="12182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1756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41764" y="1965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12B45"/>
          </a:solidFill>
          <a:ln/>
        </p:spPr>
      </p:sp>
      <p:sp>
        <p:nvSpPr>
          <p:cNvPr id="22" name="Text 20"/>
          <p:cNvSpPr/>
          <p:nvPr/>
        </p:nvSpPr>
        <p:spPr>
          <a:xfrm>
            <a:off x="9541764" y="19659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Key Transfer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413748" y="1837944"/>
            <a:ext cx="292608" cy="292608"/>
          </a:xfrm>
          <a:prstGeom prst="ellipse">
            <a:avLst/>
          </a:prstGeom>
          <a:solidFill>
            <a:srgbClr val="12182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3748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41764" y="36118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12B45"/>
          </a:solidFill>
          <a:ln/>
        </p:spPr>
      </p:sp>
      <p:sp>
        <p:nvSpPr>
          <p:cNvPr id="26" name="Text 24"/>
          <p:cNvSpPr/>
          <p:nvPr/>
        </p:nvSpPr>
        <p:spPr>
          <a:xfrm>
            <a:off x="9541764" y="36118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Log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413748" y="3483864"/>
            <a:ext cx="292608" cy="292608"/>
          </a:xfrm>
          <a:prstGeom prst="ellipse">
            <a:avLst/>
          </a:prstGeom>
          <a:solidFill>
            <a:srgbClr val="12182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3748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9772" y="36118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12B4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9772" y="36118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Locker Choice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91756" y="3483864"/>
            <a:ext cx="292608" cy="292608"/>
          </a:xfrm>
          <a:prstGeom prst="ellipse">
            <a:avLst/>
          </a:prstGeom>
          <a:solidFill>
            <a:srgbClr val="12182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91756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97780" y="36118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5097780" y="36118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Reveal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969764" y="3483864"/>
            <a:ext cx="292608" cy="292608"/>
          </a:xfrm>
          <a:prstGeom prst="ellipse">
            <a:avLst/>
          </a:prstGeom>
          <a:solidFill>
            <a:srgbClr val="12182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9764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875788" y="36118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12B45"/>
          </a:solidFill>
          <a:ln/>
        </p:spPr>
      </p:sp>
      <p:sp>
        <p:nvSpPr>
          <p:cNvPr id="38" name="Text 36"/>
          <p:cNvSpPr/>
          <p:nvPr/>
        </p:nvSpPr>
        <p:spPr>
          <a:xfrm>
            <a:off x="2875788" y="36118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2747772" y="3483864"/>
            <a:ext cx="292608" cy="292608"/>
          </a:xfrm>
          <a:prstGeom prst="ellipse">
            <a:avLst/>
          </a:prstGeom>
          <a:solidFill>
            <a:srgbClr val="12182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7772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53796" y="36118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8A33D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" y="36118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25780" y="3483864"/>
            <a:ext cx="292608" cy="292608"/>
          </a:xfrm>
          <a:prstGeom prst="ellipse">
            <a:avLst/>
          </a:prstGeom>
          <a:solidFill>
            <a:srgbClr val="12182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578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619756" y="2391156"/>
            <a:ext cx="256032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1748" y="2391156"/>
            <a:ext cx="256032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63740" y="2391156"/>
            <a:ext cx="256032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85732" y="2391156"/>
            <a:ext cx="256032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85732" y="4037076"/>
            <a:ext cx="256032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63740" y="4037076"/>
            <a:ext cx="256032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1748" y="4037076"/>
            <a:ext cx="256032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19756" y="4037076"/>
            <a:ext cx="256032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24744" y="2834640"/>
            <a:ext cx="0" cy="77724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FLOW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BRANCHING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Branching Simple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branches become impossible to implement — so only three points actually branch.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SYNC?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3063240" cy="457200"/>
          </a:xfrm>
          <a:prstGeom prst="roundRect">
            <a:avLst>
              <a:gd name="adj" fmla="val 40000"/>
            </a:avLst>
          </a:prstGeom>
          <a:solidFill>
            <a:srgbClr val="F4F5F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and hints change. Ending dialogue shifts. No puzzles change.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17830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Locker?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617720" y="2788920"/>
            <a:ext cx="3063240" cy="457200"/>
          </a:xfrm>
          <a:prstGeom prst="roundRect">
            <a:avLst>
              <a:gd name="adj" fmla="val 40000"/>
            </a:avLst>
          </a:prstGeom>
          <a:solidFill>
            <a:srgbClr val="F4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35204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37947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gain deeper understanding of Mira — a stronger emotional connection, not a structural change.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17830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Ending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412480" y="2788920"/>
            <a:ext cx="3063240" cy="457200"/>
          </a:xfrm>
          <a:prstGeom prst="roundRect">
            <a:avLst>
              <a:gd name="adj" fmla="val 40000"/>
            </a:avLst>
          </a:prstGeom>
          <a:solidFill>
            <a:srgbClr val="F4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objects, 1 choice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35204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12480" y="37947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branch. This single decision determines which of three endings (or the hidden fourth) plays out.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ENDINGS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Endings — None Fully Right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212B4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9933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Restored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Mira's Letter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lets go. Timeline repaired. Nova erased. Humanity survives.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709160"/>
            <a:ext cx="3063240" cy="13716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463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Bittersweet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212B45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57800" y="19933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Paradox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617720" y="2697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17720" y="2926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Core Key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33832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3611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survives. Reality destabilizes. Consequences unknown.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17720" y="4709160"/>
            <a:ext cx="3063240" cy="13716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48463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17720" y="5074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Triumph mixed with dread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212B45"/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052560" y="19933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Future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412480" y="2697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12480" y="2926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Access Card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33832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12480" y="3611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destroyed. Future uncertain. Humanity regains control.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412480" y="4709160"/>
            <a:ext cx="3063240" cy="13716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48463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12480" y="5074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Hopeful uncertainty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ENDINGS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Addition: A Hidden Fourth Ending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498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848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ENDING D — DEFIANCE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only if Echo and Nova consistently disobey SYNC's instructions throughout the experience — refusing the trust prompts, withholding objects, questioning every directive.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7947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rewards players who treat SYNC as untrustworthy from the start, rather than as a neutral guide — giving observant, skeptical players something special to discover without adding complexity to the main branching structure.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5120640"/>
            <a:ext cx="6858000" cy="13716"/>
          </a:xfrm>
          <a:prstGeom prst="rect">
            <a:avLst/>
          </a:prstGeom>
          <a:solidFill>
            <a:srgbClr val="DADEE9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257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adding: zero impact on implementation complexity (no new puzzles, no new content) — it's a state flag tracked across existing branch points, paying off only in altered ending dialogue.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321040" y="178308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12182B"/>
          </a:solidFill>
          <a:ln/>
        </p:spPr>
      </p:sp>
      <p:sp>
        <p:nvSpPr>
          <p:cNvPr id="12" name="Text 9"/>
          <p:cNvSpPr/>
          <p:nvPr/>
        </p:nvSpPr>
        <p:spPr>
          <a:xfrm>
            <a:off x="8321040" y="24688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3FA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000" dirty="0"/>
          </a:p>
        </p:txBody>
      </p:sp>
      <p:sp>
        <p:nvSpPr>
          <p:cNvPr id="13" name="Text 10"/>
          <p:cNvSpPr/>
          <p:nvPr/>
        </p:nvSpPr>
        <p:spPr>
          <a:xfrm>
            <a:off x="832104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ENDINGS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9536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discoverable through normal play, 1 hidden behind a consistent behavioral pattern.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ENDINGS — HIDDEN OUTCOME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AUDIO &amp; LIGHTING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and Light Carry the Emotional Arc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212B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DESIGN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precise, synthetic — gradually more human as the arc progresses.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657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natural, comforting — the emotional counterweight to SYNC.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4297680"/>
            <a:ext cx="5029200" cy="13716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434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DESIGN CUES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hum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interference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corruption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during finale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16916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212B4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202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1938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LIGHTING DESIGN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629400" y="255117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8C96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4944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629400" y="28072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white — controlled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629400" y="3264408"/>
            <a:ext cx="201168" cy="201168"/>
          </a:xfrm>
          <a:prstGeom prst="ellipse">
            <a:avLst/>
          </a:prstGeom>
          <a:solidFill>
            <a:srgbClr val="3FA9F5"/>
          </a:solidFill>
          <a:ln w="9525">
            <a:solidFill>
              <a:srgbClr val="8C96B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9440" y="3227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629400" y="35204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tones — temporal anomalies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629400" y="3977640"/>
            <a:ext cx="201168" cy="201168"/>
          </a:xfrm>
          <a:prstGeom prst="ellipse">
            <a:avLst/>
          </a:prstGeom>
          <a:solidFill>
            <a:srgbClr val="C0392B"/>
          </a:solidFill>
          <a:ln w="9525">
            <a:solidFill>
              <a:srgbClr val="8C96B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49440" y="3941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629400" y="42336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emergency lighting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29400" y="4700016"/>
            <a:ext cx="4663440" cy="13716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7" name="Text 23"/>
          <p:cNvSpPr/>
          <p:nvPr/>
        </p:nvSpPr>
        <p:spPr>
          <a:xfrm>
            <a:off x="6629400" y="48554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— UNIQUE COLOR PER OUTCOME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629400" y="52029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8C96B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903720" y="5184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8275320" y="5202936"/>
            <a:ext cx="201168" cy="201168"/>
          </a:xfrm>
          <a:prstGeom prst="ellipse">
            <a:avLst/>
          </a:prstGeom>
          <a:solidFill>
            <a:srgbClr val="C0392B"/>
          </a:solidFill>
          <a:ln w="9525">
            <a:solidFill>
              <a:srgbClr val="8C96B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549640" y="5184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9921240" y="5202936"/>
            <a:ext cx="201168" cy="201168"/>
          </a:xfrm>
          <a:prstGeom prst="ellipse">
            <a:avLst/>
          </a:prstGeom>
          <a:solidFill>
            <a:srgbClr val="3FA9F5"/>
          </a:solidFill>
          <a:ln w="9525">
            <a:solidFill>
              <a:srgbClr val="8C96B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195560" y="5184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Future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LIGHTING DESIGN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UX JOURNEY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Player's Emotional Arc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rises into suspicion, breaks at the reveal, and resolves into reflection.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69494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783080"/>
            <a:ext cx="3977640" cy="4526280"/>
          </a:xfrm>
          <a:prstGeom prst="roundRect">
            <a:avLst>
              <a:gd name="adj" fmla="val 1839"/>
            </a:avLst>
          </a:prstGeom>
          <a:solidFill>
            <a:srgbClr val="12182B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→ FEELING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2331720"/>
            <a:ext cx="128016" cy="12801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0" y="22494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0" y="2249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Disorientation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09560" y="2880360"/>
            <a:ext cx="128016" cy="12801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27980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0" y="27980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09560" y="34290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8138160" y="334670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0" y="3346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09560" y="39776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8138160" y="389534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01200" y="38953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Unease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909560" y="452628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8138160" y="44439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0" y="44439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/ empathy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909560" y="50749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1"/>
          <p:cNvSpPr/>
          <p:nvPr/>
        </p:nvSpPr>
        <p:spPr>
          <a:xfrm>
            <a:off x="8138160" y="49926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601200" y="49926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weight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909560" y="5623560"/>
            <a:ext cx="128016" cy="12801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7" name="Text 24"/>
          <p:cNvSpPr/>
          <p:nvPr/>
        </p:nvSpPr>
        <p:spPr>
          <a:xfrm>
            <a:off x="8138160" y="55412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01200" y="5541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JOURNEY MAP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TIMELINE VISUALIZATION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↔ 2075: How the Rooms Connect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12B45"/>
          </a:solidFill>
          <a:ln w="19050">
            <a:solidFill>
              <a:srgbClr val="3FA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ECHO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12B4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148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2075 — NOVA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21408" y="2098548"/>
            <a:ext cx="146304" cy="146304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locked box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21408" y="53903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507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broken twin with scratched code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94560" y="3182112"/>
            <a:ext cx="0" cy="1271016"/>
          </a:xfrm>
          <a:prstGeom prst="line">
            <a:avLst/>
          </a:prstGeom>
          <a:noFill/>
          <a:ln w="15875">
            <a:solidFill>
              <a:srgbClr val="5EEAD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64608" y="2098548"/>
            <a:ext cx="146304" cy="146304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4" name="Text 12"/>
          <p:cNvSpPr/>
          <p:nvPr/>
        </p:nvSpPr>
        <p:spPr>
          <a:xfrm>
            <a:off x="397764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key in compartment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64608" y="53903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4507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the same key, decades later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3182112"/>
            <a:ext cx="0" cy="1271016"/>
          </a:xfrm>
          <a:prstGeom prst="line">
            <a:avLst/>
          </a:prstGeom>
          <a:noFill/>
          <a:ln w="15875">
            <a:solidFill>
              <a:srgbClr val="5EEAD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607808" y="2098548"/>
            <a:ext cx="146304" cy="146304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Mira's notes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07808" y="53903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507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Mira's final recording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76688" y="2098548"/>
            <a:ext cx="146304" cy="146304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Confronts SYNC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076688" y="53903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189720" y="4507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Confronts SYNC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149840" y="3182112"/>
            <a:ext cx="0" cy="1271016"/>
          </a:xfrm>
          <a:prstGeom prst="line">
            <a:avLst/>
          </a:prstGeom>
          <a:noFill/>
          <a:ln w="15875">
            <a:solidFill>
              <a:srgbClr val="5EEAD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lines mark direct cause-and-effect links — an action in Echo's 2025 room produces a discoverable trace in Nova's 2075 room.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34244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YEARS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VISUALIZATION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// GDD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114800"/>
            <a:ext cx="4572000" cy="45720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108960" cy="3108960"/>
          </a:xfrm>
          <a:prstGeom prst="ellipse">
            <a:avLst/>
          </a:prstGeom>
          <a:ln w="15875">
            <a:solidFill>
              <a:srgbClr val="E8A33D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PLAYER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Isn't Solving the Puzzles.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conversation afterward.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6949440" cy="566928"/>
          </a:xfrm>
          <a:prstGeom prst="roundRect">
            <a:avLst>
              <a:gd name="adj" fmla="val 9677"/>
            </a:avLst>
          </a:prstGeom>
          <a:solidFill>
            <a:srgbClr val="212B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3464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D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"Was SYNC wrong?"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47872"/>
            <a:ext cx="6949440" cy="566928"/>
          </a:xfrm>
          <a:prstGeom prst="roundRect">
            <a:avLst>
              <a:gd name="adj" fmla="val 9677"/>
            </a:avLst>
          </a:prstGeom>
          <a:solidFill>
            <a:srgbClr val="212B4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4787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D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"Would saving Mira be worth breaking reality?"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261104"/>
            <a:ext cx="6949440" cy="566928"/>
          </a:xfrm>
          <a:prstGeom prst="roundRect">
            <a:avLst>
              <a:gd name="adj" fmla="val 9677"/>
            </a:avLst>
          </a:prstGeom>
          <a:solidFill>
            <a:srgbClr val="212B4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61104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D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"Is letting go more important than fixing everything?"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0" y="283464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30632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players leave the room still arguing about these questions — not the code to the locked box — SYNC has succeeded as an interactive narrative experience.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MMD901  |  AS3 Final Project  |  Alvin Samuel  |  Spring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 — Game Design Document</dc:title>
  <dc:subject>PptxGenJS Presentation</dc:subject>
  <dc:creator>Alvin Samuel</dc:creator>
  <cp:lastModifiedBy>Alvin Samuel</cp:lastModifiedBy>
  <cp:revision>1</cp:revision>
  <dcterms:created xsi:type="dcterms:W3CDTF">2026-06-18T03:53:53Z</dcterms:created>
  <dcterms:modified xsi:type="dcterms:W3CDTF">2026-06-18T03:53:53Z</dcterms:modified>
</cp:coreProperties>
</file>